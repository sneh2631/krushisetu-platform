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d951f2a1944eb6" /><Relationship Type="http://schemas.openxmlformats.org/officeDocument/2006/relationships/extended-properties" Target="/docProps/app.xml" Id="Re539c00d80274b69" /><Relationship Type="http://schemas.openxmlformats.org/officeDocument/2006/relationships/officeDocument" Target="/ppt/presentation.xml" Id="Rc6610864424244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ffa7fcdfe4c4d"/>
  </p:sldMasterIdLst>
  <p:notesMasterIdLst>
    <p:notesMasterId xmlns:r="http://schemas.openxmlformats.org/officeDocument/2006/relationships" r:id="Re3b37165b4dc4634"/>
  </p:notesMasterIdLst>
  <p:sldIdLst>
    <p:sldId xmlns:r="http://schemas.openxmlformats.org/officeDocument/2006/relationships" id="256" r:id="R98666164411e48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8fefb11d04422" /><Relationship Type="http://schemas.openxmlformats.org/officeDocument/2006/relationships/slideMaster" Target="/ppt/slideMasters/slideMaster1.xml" Id="R4b2ffa7fcdfe4c4d" /><Relationship Type="http://schemas.openxmlformats.org/officeDocument/2006/relationships/notesMaster" Target="/ppt/notesMasters/notesMaster1.xml" Id="Re3b37165b4dc4634" /><Relationship Type="http://schemas.openxmlformats.org/officeDocument/2006/relationships/presProps" Target="/ppt/presProps.xml" Id="R9ef9e04937c345bb" /><Relationship Type="http://schemas.openxmlformats.org/officeDocument/2006/relationships/tableStyles" Target="/ppt/tableStyles.xml" Id="R5ccd57aede5a4f9f" /><Relationship Type="http://schemas.openxmlformats.org/officeDocument/2006/relationships/slide" Target="/ppt/slides/slide1.xml" Id="R98666164411e48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fd62c4508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5d4d3a9a4c4290" /><Relationship Type="http://schemas.openxmlformats.org/officeDocument/2006/relationships/notesMaster" Target="/ppt/notesMasters/notesMaster1.xml" Id="R16c4a3f7d31c45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workflow screenshot. Slide copy condensed for presentation readability.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bc70b3f41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5c727e3fd4fa6" /><Relationship Type="http://schemas.openxmlformats.org/officeDocument/2006/relationships/slideLayout" Target="/ppt/slideLayouts/slideLayout1.xml" Id="Rb9cbe9dcfa7445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be9dcfa7445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40d94c265403e" /><Relationship Type="http://schemas.openxmlformats.org/officeDocument/2006/relationships/notesSlide" Target="/ppt/notesSlides/notesSlide1.xml" Id="R4151125d580442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27E17CF7-7100-4BFB-8C9A-260A9925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How the Marketplace Works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5AFFB8-F27F-4E1E-96F4-67F27676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B6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C6B62"/>
                </a:solidFill>
                <a:latin typeface="Aptos"/>
                <a:ea typeface="Aptos"/>
                <a:cs typeface="Aptos"/>
              </a:rPr>
              <a:t>A simple seven-step journey from farm registration to trusted repeat orders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3DE6B12-7743-413B-A3CE-2B6CB6DF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C1"/>
            </a:solidFill>
            <a:prstDash val="solid"/>
          </a:ln>
        </p:spPr>
      </p:sp>
      <p:sp>
        <p:nvSpPr>
          <p:cNvPr id="4" name="timeline">
            <a:extLst xmlns:a="http://schemas.openxmlformats.org/drawingml/2006/main">
              <a:ext uri="{FF2B5EF4-FFF2-40B4-BE49-F238E27FC236}">
                <a16:creationId xmlns:a16="http://schemas.microsoft.com/office/drawing/2014/main" id="{2D86529C-02F0-4943-8849-53EA10A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28825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BB94"/>
            </a:solidFill>
            <a:prstDash val="solid"/>
          </a:ln>
        </p:spPr>
      </p:sp>
      <p:sp>
        <p:nvSpPr>
          <p:cNvPr id="5" name="step-1-marker">
            <a:extLst xmlns:a="http://schemas.openxmlformats.org/drawingml/2006/main">
              <a:ext uri="{FF2B5EF4-FFF2-40B4-BE49-F238E27FC236}">
                <a16:creationId xmlns:a16="http://schemas.microsoft.com/office/drawing/2014/main" id="{E539EE4D-8526-4105-9D4B-02D8996B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56B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6B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6B3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step-1-card">
            <a:extLst xmlns:a="http://schemas.openxmlformats.org/drawingml/2006/main">
              <a:ext uri="{FF2B5EF4-FFF2-40B4-BE49-F238E27FC236}">
                <a16:creationId xmlns:a16="http://schemas.microsoft.com/office/drawing/2014/main" id="{B18857ED-8746-43DC-953B-60A7A30C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step-1-accent">
            <a:extLst xmlns:a="http://schemas.openxmlformats.org/drawingml/2006/main">
              <a:ext uri="{FF2B5EF4-FFF2-40B4-BE49-F238E27FC236}">
                <a16:creationId xmlns:a16="http://schemas.microsoft.com/office/drawing/2014/main" id="{4B49CBD7-5139-4026-BAEE-1774146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B36"/>
          </a:solidFill>
          <a:ln xmlns:a="http://schemas.openxmlformats.org/drawingml/2006/main" w="0">
            <a:solidFill>
              <a:srgbClr val="156B36"/>
            </a:solidFill>
            <a:prstDash val="solid"/>
          </a:ln>
        </p:spPr>
      </p:sp>
      <p:sp>
        <p:nvSpPr>
          <p:cNvPr id="8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4B3BDD07-DC8D-43EF-9249-C0CFA9C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6B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6B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13C5397C-3537-46E9-88A5-54428F1D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0" name="step-1-body">
            <a:extLst xmlns:a="http://schemas.openxmlformats.org/drawingml/2006/main">
              <a:ext uri="{FF2B5EF4-FFF2-40B4-BE49-F238E27FC236}">
                <a16:creationId xmlns:a16="http://schemas.microsoft.com/office/drawing/2014/main" id="{F7CAA368-42FD-465B-96F0-246A1A8B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Farmer registers with a phone number, farm details and profile information.</a:t>
            </a:r>
          </a:p>
        </p:txBody>
      </p:sp>
      <p:sp>
        <p:nvSpPr>
          <p:cNvPr id="11" name="step-2-marker">
            <a:extLst xmlns:a="http://schemas.openxmlformats.org/drawingml/2006/main">
              <a:ext uri="{FF2B5EF4-FFF2-40B4-BE49-F238E27FC236}">
                <a16:creationId xmlns:a16="http://schemas.microsoft.com/office/drawing/2014/main" id="{F23AA322-2F36-4C07-A5DA-E3D180B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2-card">
            <a:extLst xmlns:a="http://schemas.openxmlformats.org/drawingml/2006/main">
              <a:ext uri="{FF2B5EF4-FFF2-40B4-BE49-F238E27FC236}">
                <a16:creationId xmlns:a16="http://schemas.microsoft.com/office/drawing/2014/main" id="{042469E1-9B62-4693-9381-FC9972F9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tep-2-accent">
            <a:extLst xmlns:a="http://schemas.openxmlformats.org/drawingml/2006/main">
              <a:ext uri="{FF2B5EF4-FFF2-40B4-BE49-F238E27FC236}">
                <a16:creationId xmlns:a16="http://schemas.microsoft.com/office/drawing/2014/main" id="{39DDBE91-7080-40F9-8F6C-B2325A3D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1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27198EE3-33E1-4EA5-B362-0B03DACE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8AEFEBC1-ABCA-4E81-9C22-EC37F98B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Add Produce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D5E7F37-3B77-4673-B753-542D3326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Farmer adds crop type, quantity, price, availability and pickup location.</a:t>
            </a:r>
          </a:p>
        </p:txBody>
      </p:sp>
      <p:sp>
        <p:nvSpPr>
          <p:cNvPr id="17" name="step-3-marker">
            <a:extLst xmlns:a="http://schemas.openxmlformats.org/drawingml/2006/main">
              <a:ext uri="{FF2B5EF4-FFF2-40B4-BE49-F238E27FC236}">
                <a16:creationId xmlns:a16="http://schemas.microsoft.com/office/drawing/2014/main" id="{128390B8-1CD4-4D27-A3DD-0DF6C8F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step-3-card">
            <a:extLst xmlns:a="http://schemas.openxmlformats.org/drawingml/2006/main">
              <a:ext uri="{FF2B5EF4-FFF2-40B4-BE49-F238E27FC236}">
                <a16:creationId xmlns:a16="http://schemas.microsoft.com/office/drawing/2014/main" id="{4D2EE3A9-0DE8-4A99-AC6A-40D83A09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tep-3-accent">
            <a:extLst xmlns:a="http://schemas.openxmlformats.org/drawingml/2006/main">
              <a:ext uri="{FF2B5EF4-FFF2-40B4-BE49-F238E27FC236}">
                <a16:creationId xmlns:a16="http://schemas.microsoft.com/office/drawing/2014/main" id="{06ED4495-29A8-402B-B5D9-0AA0E60D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2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A76B45C5-D3CF-4394-ADB0-E4319C5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601EA5E5-CFB3-4EF1-AA04-9AC18D7E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Search Listings</a:t>
            </a:r>
          </a:p>
        </p:txBody>
      </p:sp>
      <p:sp>
        <p:nvSpPr>
          <p:cNvPr id="22" name="step-3-body">
            <a:extLst xmlns:a="http://schemas.openxmlformats.org/drawingml/2006/main">
              <a:ext uri="{FF2B5EF4-FFF2-40B4-BE49-F238E27FC236}">
                <a16:creationId xmlns:a16="http://schemas.microsoft.com/office/drawing/2014/main" id="{90F33466-2B4E-43DE-9038-C5099BA0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Buyer searches available produce and compares price, quality and seller ratings.</a:t>
            </a:r>
          </a:p>
        </p:txBody>
      </p:sp>
      <p:sp>
        <p:nvSpPr>
          <p:cNvPr id="23" name="step-4-marker">
            <a:extLst xmlns:a="http://schemas.openxmlformats.org/drawingml/2006/main">
              <a:ext uri="{FF2B5EF4-FFF2-40B4-BE49-F238E27FC236}">
                <a16:creationId xmlns:a16="http://schemas.microsoft.com/office/drawing/2014/main" id="{889E2AC8-D600-43FC-88F9-9068133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step-4-card">
            <a:extLst xmlns:a="http://schemas.openxmlformats.org/drawingml/2006/main">
              <a:ext uri="{FF2B5EF4-FFF2-40B4-BE49-F238E27FC236}">
                <a16:creationId xmlns:a16="http://schemas.microsoft.com/office/drawing/2014/main" id="{4BD2D779-783C-41F0-A5E2-52AA15C9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tep-4-accent">
            <a:extLst xmlns:a="http://schemas.openxmlformats.org/drawingml/2006/main">
              <a:ext uri="{FF2B5EF4-FFF2-40B4-BE49-F238E27FC236}">
                <a16:creationId xmlns:a16="http://schemas.microsoft.com/office/drawing/2014/main" id="{C9350855-71FB-442F-9E1B-5326D5D8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26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D16E7EC-FFA3-42A1-A368-7B68C67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3DDD4AF8-1A21-4B08-8AEC-E95A155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Chat &amp; Agree</a:t>
            </a:r>
          </a:p>
        </p:txBody>
      </p:sp>
      <p:sp>
        <p:nvSpPr>
          <p:cNvPr id="28" name="step-4-body">
            <a:extLst xmlns:a="http://schemas.openxmlformats.org/drawingml/2006/main">
              <a:ext uri="{FF2B5EF4-FFF2-40B4-BE49-F238E27FC236}">
                <a16:creationId xmlns:a16="http://schemas.microsoft.com/office/drawing/2014/main" id="{0C6F842D-931C-49E7-A1B9-7CA4431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Buyer and farmer discuss quantity, price, pickup time and delivery terms.</a:t>
            </a:r>
          </a:p>
        </p:txBody>
      </p:sp>
      <p:sp>
        <p:nvSpPr>
          <p:cNvPr id="29" name="step-5-marker">
            <a:extLst xmlns:a="http://schemas.openxmlformats.org/drawingml/2006/main">
              <a:ext uri="{FF2B5EF4-FFF2-40B4-BE49-F238E27FC236}">
                <a16:creationId xmlns:a16="http://schemas.microsoft.com/office/drawing/2014/main" id="{10C2382C-9AC0-4EAD-ABF1-80785134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step-5-card">
            <a:extLst xmlns:a="http://schemas.openxmlformats.org/drawingml/2006/main">
              <a:ext uri="{FF2B5EF4-FFF2-40B4-BE49-F238E27FC236}">
                <a16:creationId xmlns:a16="http://schemas.microsoft.com/office/drawing/2014/main" id="{2532349F-8A4E-41E8-9DEB-119BCC3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step-5-accent">
            <a:extLst xmlns:a="http://schemas.openxmlformats.org/drawingml/2006/main">
              <a:ext uri="{FF2B5EF4-FFF2-40B4-BE49-F238E27FC236}">
                <a16:creationId xmlns:a16="http://schemas.microsoft.com/office/drawing/2014/main" id="{1696EB74-2755-4B8D-8EA7-85AD121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32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16DF264B-F5E6-466C-919A-54775C40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5393420D-324C-43B9-859E-66E5841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Confirm &amp; Pay</a:t>
            </a:r>
          </a:p>
        </p:txBody>
      </p:sp>
      <p:sp>
        <p:nvSpPr>
          <p:cNvPr id="34" name="step-5-body">
            <a:extLst xmlns:a="http://schemas.openxmlformats.org/drawingml/2006/main">
              <a:ext uri="{FF2B5EF4-FFF2-40B4-BE49-F238E27FC236}">
                <a16:creationId xmlns:a16="http://schemas.microsoft.com/office/drawing/2014/main" id="{6C69F991-0B22-44B4-A8E7-67F14FFC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Buyer confirms the order and completes payment through the secure platform.</a:t>
            </a:r>
          </a:p>
        </p:txBody>
      </p:sp>
      <p:sp>
        <p:nvSpPr>
          <p:cNvPr id="35" name="step-6-marker">
            <a:extLst xmlns:a="http://schemas.openxmlformats.org/drawingml/2006/main">
              <a:ext uri="{FF2B5EF4-FFF2-40B4-BE49-F238E27FC236}">
                <a16:creationId xmlns:a16="http://schemas.microsoft.com/office/drawing/2014/main" id="{626BD7FE-AE35-444A-9267-47BDDFA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step-6-card">
            <a:extLst xmlns:a="http://schemas.openxmlformats.org/drawingml/2006/main">
              <a:ext uri="{FF2B5EF4-FFF2-40B4-BE49-F238E27FC236}">
                <a16:creationId xmlns:a16="http://schemas.microsoft.com/office/drawing/2014/main" id="{CB0BB5CC-FB12-44D9-98B5-2FF64961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step-6-accent">
            <a:extLst xmlns:a="http://schemas.openxmlformats.org/drawingml/2006/main">
              <a:ext uri="{FF2B5EF4-FFF2-40B4-BE49-F238E27FC236}">
                <a16:creationId xmlns:a16="http://schemas.microsoft.com/office/drawing/2014/main" id="{0E956C74-12D5-4B10-B71E-4AB8C63C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38" name="step-6-number">
            <a:extLst xmlns:a="http://schemas.openxmlformats.org/drawingml/2006/main">
              <a:ext uri="{FF2B5EF4-FFF2-40B4-BE49-F238E27FC236}">
                <a16:creationId xmlns:a16="http://schemas.microsoft.com/office/drawing/2014/main" id="{E9B76A3C-57BA-4945-B1B2-2A238B46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9" name="step-6-title">
            <a:extLst xmlns:a="http://schemas.openxmlformats.org/drawingml/2006/main">
              <a:ext uri="{FF2B5EF4-FFF2-40B4-BE49-F238E27FC236}">
                <a16:creationId xmlns:a16="http://schemas.microsoft.com/office/drawing/2014/main" id="{167AA269-E6AC-4BC0-8A6E-F0B84DFF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Track Delivery</a:t>
            </a:r>
          </a:p>
        </p:txBody>
      </p:sp>
      <p:sp>
        <p:nvSpPr>
          <p:cNvPr id="40" name="step-6-body">
            <a:extLst xmlns:a="http://schemas.openxmlformats.org/drawingml/2006/main">
              <a:ext uri="{FF2B5EF4-FFF2-40B4-BE49-F238E27FC236}">
                <a16:creationId xmlns:a16="http://schemas.microsoft.com/office/drawing/2014/main" id="{90F42511-158D-468D-9C3F-3D254054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Farmer prepares the order while the buyer follows pickup and delivery status.</a:t>
            </a:r>
          </a:p>
        </p:txBody>
      </p:sp>
      <p:sp>
        <p:nvSpPr>
          <p:cNvPr id="41" name="step-7-marker">
            <a:extLst xmlns:a="http://schemas.openxmlformats.org/drawingml/2006/main">
              <a:ext uri="{FF2B5EF4-FFF2-40B4-BE49-F238E27FC236}">
                <a16:creationId xmlns:a16="http://schemas.microsoft.com/office/drawing/2014/main" id="{1D987AC2-590C-4086-937E-A9BD4DF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52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38B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step-7-card">
            <a:extLst xmlns:a="http://schemas.openxmlformats.org/drawingml/2006/main">
              <a:ext uri="{FF2B5EF4-FFF2-40B4-BE49-F238E27FC236}">
                <a16:creationId xmlns:a16="http://schemas.microsoft.com/office/drawing/2014/main" id="{2480E98D-55A3-43E7-B500-2FB223E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38375"/>
            <a:ext cx="1428750" cy="3105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D9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step-7-accent">
            <a:extLst xmlns:a="http://schemas.openxmlformats.org/drawingml/2006/main">
              <a:ext uri="{FF2B5EF4-FFF2-40B4-BE49-F238E27FC236}">
                <a16:creationId xmlns:a16="http://schemas.microsoft.com/office/drawing/2014/main" id="{6CF645A2-4D76-470A-ADE2-B3A336BF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383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B45"/>
          </a:solidFill>
          <a:ln xmlns:a="http://schemas.openxmlformats.org/drawingml/2006/main" w="0">
            <a:solidFill>
              <a:srgbClr val="238B45"/>
            </a:solidFill>
            <a:prstDash val="solid"/>
          </a:ln>
        </p:spPr>
      </p:sp>
      <p:sp>
        <p:nvSpPr>
          <p:cNvPr id="44" name="step-7-number">
            <a:extLst xmlns:a="http://schemas.openxmlformats.org/drawingml/2006/main">
              <a:ext uri="{FF2B5EF4-FFF2-40B4-BE49-F238E27FC236}">
                <a16:creationId xmlns:a16="http://schemas.microsoft.com/office/drawing/2014/main" id="{6E223E55-9B35-4DB5-B84A-D6A78383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622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8B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8B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5" name="step-7-title">
            <a:extLst xmlns:a="http://schemas.openxmlformats.org/drawingml/2006/main">
              <a:ext uri="{FF2B5EF4-FFF2-40B4-BE49-F238E27FC236}">
                <a16:creationId xmlns:a16="http://schemas.microsoft.com/office/drawing/2014/main" id="{86318F41-A29B-4339-B2A3-0715FC0E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05125"/>
            <a:ext cx="1085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D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3D28"/>
                </a:solidFill>
                <a:latin typeface="Aptos"/>
                <a:ea typeface="Aptos"/>
                <a:cs typeface="Aptos"/>
              </a:rPr>
              <a:t>Rate the Order</a:t>
            </a:r>
          </a:p>
        </p:txBody>
      </p:sp>
      <p:sp>
        <p:nvSpPr>
          <p:cNvPr id="46" name="step-7-body">
            <a:extLst xmlns:a="http://schemas.openxmlformats.org/drawingml/2006/main">
              <a:ext uri="{FF2B5EF4-FFF2-40B4-BE49-F238E27FC236}">
                <a16:creationId xmlns:a16="http://schemas.microsoft.com/office/drawing/2014/main" id="{42FECDDB-D866-44DE-BE7C-513365DD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90925"/>
            <a:ext cx="1085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13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24139"/>
                </a:solidFill>
                <a:latin typeface="Aptos"/>
                <a:ea typeface="Aptos"/>
                <a:cs typeface="Aptos"/>
              </a:rPr>
              <a:t>After delivery, both users rate the order to support trusted future purchases.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C932B087-521D-4B03-9A0C-6687EFC7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5C6B62"/>
                </a:solidFill>
                <a:latin typeface="Aptos"/>
                <a:ea typeface="Aptos"/>
                <a:cs typeface="Aptos"/>
              </a:defRPr>
            </a:pPr>
            <a:r>
              <a:rPr sz="1200" i="1">
                <a:solidFill>
                  <a:srgbClr val="5C6B62"/>
                </a:solidFill>
                <a:latin typeface="Aptos"/>
                <a:ea typeface="Aptos"/>
                <a:cs typeface="Aptos"/>
              </a:rPr>
              <a:t>Designed for clarity: every stage explains who acts, what they do and what happens next.</a:t>
            </a:r>
          </a:p>
        </p:txBody>
      </p:sp>
    </p:spTree>
    <p:extLst>
      <p:ext uri="{BB962C8B-B14F-4D97-AF65-F5344CB8AC3E}">
        <p14:creationId xmlns:p14="http://schemas.microsoft.com/office/powerpoint/2010/main" val="490605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2026-09-22T15:55:23.1370000Z</dcterms:created>
  <dcterms:modified xsi:type="dcterms:W3CDTF">2026-09-22T15:55:23.1370000Z</dcterms:modified>
</coreProperties>
</file>