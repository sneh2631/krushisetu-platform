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503feff0fa4a92" /><Relationship Type="http://schemas.openxmlformats.org/officeDocument/2006/relationships/extended-properties" Target="/docProps/app.xml" Id="Rb3c3ab9b5f314edf" /><Relationship Type="http://schemas.openxmlformats.org/officeDocument/2006/relationships/officeDocument" Target="/ppt/presentation.xml" Id="Rffecd96592c8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1bd9111d3f410e"/>
  </p:sldMasterIdLst>
  <p:notesMasterIdLst>
    <p:notesMasterId xmlns:r="http://schemas.openxmlformats.org/officeDocument/2006/relationships" r:id="R838de4b1e48042e8"/>
  </p:notesMasterIdLst>
  <p:sldIdLst>
    <p:sldId xmlns:r="http://schemas.openxmlformats.org/officeDocument/2006/relationships" id="256" r:id="R7929fc43d23248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4c76123af4396" /><Relationship Type="http://schemas.openxmlformats.org/officeDocument/2006/relationships/slideMaster" Target="/ppt/slideMasters/slideMaster1.xml" Id="R3a1bd9111d3f410e" /><Relationship Type="http://schemas.openxmlformats.org/officeDocument/2006/relationships/notesMaster" Target="/ppt/notesMasters/notesMaster1.xml" Id="R838de4b1e48042e8" /><Relationship Type="http://schemas.openxmlformats.org/officeDocument/2006/relationships/presProps" Target="/ppt/presProps.xml" Id="R31902cf4ec9b4719" /><Relationship Type="http://schemas.openxmlformats.org/officeDocument/2006/relationships/tableStyles" Target="/ppt/tableStyles.xml" Id="Re3ffa32137e44fa4" /><Relationship Type="http://schemas.openxmlformats.org/officeDocument/2006/relationships/slide" Target="/ppt/slides/slide1.xml" Id="R7929fc43d23248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ffd83224b4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077f44dd604546" /><Relationship Type="http://schemas.openxmlformats.org/officeDocument/2006/relationships/notesMaster" Target="/ppt/notesMasters/notesMaster1.xml" Id="R2de4b789d30c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KrushiSetu slide component. Claims reflect supplied project functionality and should be updated to match the final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d56c3eb9f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d1eb8dcd6475c" /><Relationship Type="http://schemas.openxmlformats.org/officeDocument/2006/relationships/slideLayout" Target="/ppt/slideLayouts/slideLayout1.xml" Id="Reb98bd577e5944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98bd577e5944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395dece834337" /><Relationship Type="http://schemas.openxmlformats.org/officeDocument/2006/relationships/notesSlide" Target="/ppt/notesSlides/notesSlide1.xml" Id="R0df345590c384f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anel-container">
            <a:extLst xmlns:a="http://schemas.openxmlformats.org/drawingml/2006/main">
              <a:ext uri="{FF2B5EF4-FFF2-40B4-BE49-F238E27FC236}">
                <a16:creationId xmlns:a16="http://schemas.microsoft.com/office/drawing/2014/main" id="{813C60AB-D268-42E5-AC3D-7CA5A56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"/>
            <a:ext cx="6477000" cy="6000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4D6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88FEBF0-5AE4-42A8-B94C-A41200B4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14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 spc="1">
                <a:solidFill>
                  <a:srgbClr val="527A56"/>
                </a:solidFill>
                <a:latin typeface="Aptos"/>
                <a:ea typeface="Aptos"/>
                <a:cs typeface="Aptos"/>
              </a:defRPr>
            </a:pPr>
            <a:r>
              <a:rPr sz="1125" b="1" spc="1">
                <a:solidFill>
                  <a:srgbClr val="527A56"/>
                </a:solidFill>
                <a:latin typeface="Aptos"/>
                <a:ea typeface="Aptos"/>
                <a:cs typeface="Aptos"/>
              </a:rPr>
              <a:t>FROM CROP LOT TO BANK CREDIT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EBFD8E91-748B-4A38-8666-72FDABA9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287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39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3392C"/>
                </a:solidFill>
                <a:latin typeface="Aptos"/>
                <a:ea typeface="Aptos"/>
                <a:cs typeface="Aptos"/>
              </a:rPr>
              <a:t>A SALE YOU CAN TRACK</a:t>
            </a:r>
          </a:p>
        </p:txBody>
      </p:sp>
      <p:sp>
        <p:nvSpPr>
          <p:cNvPr id="4" name="net-payout-badge">
            <a:extLst xmlns:a="http://schemas.openxmlformats.org/drawingml/2006/main">
              <a:ext uri="{FF2B5EF4-FFF2-40B4-BE49-F238E27FC236}">
                <a16:creationId xmlns:a16="http://schemas.microsoft.com/office/drawing/2014/main" id="{E8467367-D746-4CB6-B313-5A468809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95425"/>
            <a:ext cx="3000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6"/>
          </a:solidFill>
          <a:ln xmlns:a="http://schemas.openxmlformats.org/drawingml/2006/main" w="0">
            <a:solidFill>
              <a:srgbClr val="FFF0E6"/>
            </a:solidFill>
            <a:prstDash val="solid"/>
          </a:ln>
        </p:spPr>
      </p:sp>
      <p:sp>
        <p:nvSpPr>
          <p:cNvPr id="5" name="net-payout-badge-text">
            <a:extLst xmlns:a="http://schemas.openxmlformats.org/drawingml/2006/main">
              <a:ext uri="{FF2B5EF4-FFF2-40B4-BE49-F238E27FC236}">
                <a16:creationId xmlns:a16="http://schemas.microsoft.com/office/drawing/2014/main" id="{C79447FF-9A99-4E7D-A876-1DA1B5DD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64B2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64B24"/>
                </a:solidFill>
                <a:latin typeface="Aptos"/>
                <a:ea typeface="Aptos"/>
                <a:cs typeface="Aptos"/>
              </a:rPr>
              <a:t>₹ NET VISIBLE BEFORE DISPATCH</a:t>
            </a:r>
          </a:p>
        </p:txBody>
      </p:sp>
      <p:sp>
        <p:nvSpPr>
          <p:cNvPr id="6" name="route-line">
            <a:extLst xmlns:a="http://schemas.openxmlformats.org/drawingml/2006/main">
              <a:ext uri="{FF2B5EF4-FFF2-40B4-BE49-F238E27FC236}">
                <a16:creationId xmlns:a16="http://schemas.microsoft.com/office/drawing/2014/main" id="{6395B216-E1ED-47E0-BE1F-3C6C8558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FBD81"/>
            </a:solidFill>
            <a:prstDash val="solid"/>
          </a:ln>
        </p:spPr>
      </p:sp>
      <p:sp>
        <p:nvSpPr>
          <p:cNvPr id="7" name="stage-1-marker">
            <a:extLst xmlns:a="http://schemas.openxmlformats.org/drawingml/2006/main">
              <a:ext uri="{FF2B5EF4-FFF2-40B4-BE49-F238E27FC236}">
                <a16:creationId xmlns:a16="http://schemas.microsoft.com/office/drawing/2014/main" id="{7B3F1AB0-C421-4FF5-94AE-66A56F38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E"/>
          </a:solidFill>
          <a:ln xmlns:a="http://schemas.openxmlformats.org/drawingml/2006/main" w="0">
            <a:solidFill>
              <a:srgbClr val="123D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F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5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6B258CC3-5258-47A1-83D1-C019F46D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0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39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392C"/>
                </a:solidFill>
                <a:latin typeface="Aptos"/>
                <a:ea typeface="Aptos"/>
                <a:cs typeface="Aptos"/>
              </a:rPr>
              <a:t>Crop lot</a:t>
            </a:r>
          </a:p>
        </p:txBody>
      </p:sp>
      <p:sp>
        <p:nvSpPr>
          <p:cNvPr id="9" name="stage-1-description">
            <a:extLst xmlns:a="http://schemas.openxmlformats.org/drawingml/2006/main">
              <a:ext uri="{FF2B5EF4-FFF2-40B4-BE49-F238E27FC236}">
                <a16:creationId xmlns:a16="http://schemas.microsoft.com/office/drawing/2014/main" id="{FB93C39A-CC60-42FB-AE6F-8A5A52E7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28975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7165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7165"/>
                </a:solidFill>
                <a:latin typeface="Aptos"/>
                <a:ea typeface="Aptos"/>
                <a:cs typeface="Aptos"/>
              </a:rPr>
              <a:t>Grade + quantity</a:t>
            </a:r>
          </a:p>
        </p:txBody>
      </p:sp>
      <p:sp>
        <p:nvSpPr>
          <p:cNvPr id="10" name="stage-2-marker">
            <a:extLst xmlns:a="http://schemas.openxmlformats.org/drawingml/2006/main">
              <a:ext uri="{FF2B5EF4-FFF2-40B4-BE49-F238E27FC236}">
                <a16:creationId xmlns:a16="http://schemas.microsoft.com/office/drawing/2014/main" id="{C450DADD-5383-4043-825D-776B607B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43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E"/>
          </a:solidFill>
          <a:ln xmlns:a="http://schemas.openxmlformats.org/drawingml/2006/main" w="0">
            <a:solidFill>
              <a:srgbClr val="123D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F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5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55E47C99-CDC5-4950-A4A8-6105B71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0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39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392C"/>
                </a:solidFill>
                <a:latin typeface="Aptos"/>
                <a:ea typeface="Aptos"/>
                <a:cs typeface="Aptos"/>
              </a:rPr>
              <a:t>Best buyer</a:t>
            </a:r>
          </a:p>
        </p:txBody>
      </p:sp>
      <p:sp>
        <p:nvSpPr>
          <p:cNvPr id="12" name="stage-2-description">
            <a:extLst xmlns:a="http://schemas.openxmlformats.org/drawingml/2006/main">
              <a:ext uri="{FF2B5EF4-FFF2-40B4-BE49-F238E27FC236}">
                <a16:creationId xmlns:a16="http://schemas.microsoft.com/office/drawing/2014/main" id="{3DBF91F5-63C0-41B0-8B62-62ADF1BF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28975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7165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7165"/>
                </a:solidFill>
                <a:latin typeface="Aptos"/>
                <a:ea typeface="Aptos"/>
                <a:cs typeface="Aptos"/>
              </a:rPr>
              <a:t>Net payout checked</a:t>
            </a:r>
          </a:p>
        </p:txBody>
      </p:sp>
      <p:sp>
        <p:nvSpPr>
          <p:cNvPr id="13" name="stage-3-marker">
            <a:extLst xmlns:a="http://schemas.openxmlformats.org/drawingml/2006/main">
              <a:ext uri="{FF2B5EF4-FFF2-40B4-BE49-F238E27FC236}">
                <a16:creationId xmlns:a16="http://schemas.microsoft.com/office/drawing/2014/main" id="{4D77DF57-0F3A-41E5-9C75-B7F1CEFC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E"/>
          </a:solidFill>
          <a:ln xmlns:a="http://schemas.openxmlformats.org/drawingml/2006/main" w="0">
            <a:solidFill>
              <a:srgbClr val="123D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F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55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FB95689A-F496-4EDC-9162-D89ACA83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39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392C"/>
                </a:solidFill>
                <a:latin typeface="Aptos"/>
                <a:ea typeface="Aptos"/>
                <a:cs typeface="Aptos"/>
              </a:rPr>
              <a:t>Pickup</a:t>
            </a:r>
          </a:p>
        </p:txBody>
      </p:sp>
      <p:sp>
        <p:nvSpPr>
          <p:cNvPr id="15" name="stage-3-description">
            <a:extLst xmlns:a="http://schemas.openxmlformats.org/drawingml/2006/main">
              <a:ext uri="{FF2B5EF4-FFF2-40B4-BE49-F238E27FC236}">
                <a16:creationId xmlns:a16="http://schemas.microsoft.com/office/drawing/2014/main" id="{A2E50391-E56A-425C-A999-4956AB20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28975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7165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7165"/>
                </a:solidFill>
                <a:latin typeface="Aptos"/>
                <a:ea typeface="Aptos"/>
                <a:cs typeface="Aptos"/>
              </a:rPr>
              <a:t>Shared transport</a:t>
            </a:r>
          </a:p>
        </p:txBody>
      </p:sp>
      <p:sp>
        <p:nvSpPr>
          <p:cNvPr id="16" name="stage-4-marker">
            <a:extLst xmlns:a="http://schemas.openxmlformats.org/drawingml/2006/main">
              <a:ext uri="{FF2B5EF4-FFF2-40B4-BE49-F238E27FC236}">
                <a16:creationId xmlns:a16="http://schemas.microsoft.com/office/drawing/2014/main" id="{A6A3E4F5-F88B-441A-BBDA-9D4CEA61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D2E"/>
          </a:solidFill>
          <a:ln xmlns:a="http://schemas.openxmlformats.org/drawingml/2006/main" w="0">
            <a:solidFill>
              <a:srgbClr val="123D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F5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55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A6C6261F-3E9C-4C04-9753-B733DAB0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39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392C"/>
                </a:solidFill>
                <a:latin typeface="Aptos"/>
                <a:ea typeface="Aptos"/>
                <a:cs typeface="Aptos"/>
              </a:rPr>
              <a:t>Bank credit</a:t>
            </a:r>
          </a:p>
        </p:txBody>
      </p:sp>
      <p:sp>
        <p:nvSpPr>
          <p:cNvPr id="18" name="stage-4-description">
            <a:extLst xmlns:a="http://schemas.openxmlformats.org/drawingml/2006/main">
              <a:ext uri="{FF2B5EF4-FFF2-40B4-BE49-F238E27FC236}">
                <a16:creationId xmlns:a16="http://schemas.microsoft.com/office/drawing/2014/main" id="{F8F92F66-DD39-4EBD-A440-9DCBC6DD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28975"/>
            <a:ext cx="131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C7165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C7165"/>
                </a:solidFill>
                <a:latin typeface="Aptos"/>
                <a:ea typeface="Aptos"/>
                <a:cs typeface="Aptos"/>
              </a:rPr>
              <a:t>Payment tracked</a:t>
            </a:r>
          </a:p>
        </p:txBody>
      </p:sp>
      <p:sp>
        <p:nvSpPr>
          <p:cNvPr id="19" name="trust-strip">
            <a:extLst xmlns:a="http://schemas.openxmlformats.org/drawingml/2006/main">
              <a:ext uri="{FF2B5EF4-FFF2-40B4-BE49-F238E27FC236}">
                <a16:creationId xmlns:a16="http://schemas.microsoft.com/office/drawing/2014/main" id="{3A0A2E71-BBF8-4BC5-BBBC-A50D629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571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0C9"/>
          </a:solidFill>
          <a:ln xmlns:a="http://schemas.openxmlformats.org/drawingml/2006/main" w="0">
            <a:solidFill>
              <a:srgbClr val="DFF0C9"/>
            </a:solidFill>
            <a:prstDash val="solid"/>
          </a:ln>
        </p:spPr>
      </p:sp>
      <p:sp>
        <p:nvSpPr>
          <p:cNvPr id="20" name="trust-strip-text">
            <a:extLst xmlns:a="http://schemas.openxmlformats.org/drawingml/2006/main">
              <a:ext uri="{FF2B5EF4-FFF2-40B4-BE49-F238E27FC236}">
                <a16:creationId xmlns:a16="http://schemas.microsoft.com/office/drawing/2014/main" id="{05C4C0C7-600E-4974-95E7-53B6F049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9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39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392C"/>
                </a:solidFill>
                <a:latin typeface="Aptos"/>
                <a:ea typeface="Aptos"/>
                <a:cs typeface="Aptos"/>
              </a:rPr>
              <a:t>Verified buyer   •   Quality confirmed   •   Payment tracked</a:t>
            </a:r>
          </a:p>
        </p:txBody>
      </p:sp>
      <p:sp>
        <p:nvSpPr>
          <p:cNvPr id="21" name="final-statement">
            <a:extLst xmlns:a="http://schemas.openxmlformats.org/drawingml/2006/main">
              <a:ext uri="{FF2B5EF4-FFF2-40B4-BE49-F238E27FC236}">
                <a16:creationId xmlns:a16="http://schemas.microsoft.com/office/drawing/2014/main" id="{F4FE9D2C-57C1-441B-8357-28440678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571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D2E"/>
          </a:solidFill>
          <a:ln xmlns:a="http://schemas.openxmlformats.org/drawingml/2006/main" w="0">
            <a:solidFill>
              <a:srgbClr val="123D2E"/>
            </a:solidFill>
            <a:prstDash val="solid"/>
          </a:ln>
        </p:spPr>
      </p:sp>
      <p:sp>
        <p:nvSpPr>
          <p:cNvPr id="22" name="final-statement-title">
            <a:extLst xmlns:a="http://schemas.openxmlformats.org/drawingml/2006/main">
              <a:ext uri="{FF2B5EF4-FFF2-40B4-BE49-F238E27FC236}">
                <a16:creationId xmlns:a16="http://schemas.microsoft.com/office/drawing/2014/main" id="{C1986627-2A80-41C8-9C3B-6E286388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29175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F5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55A"/>
                </a:solidFill>
                <a:latin typeface="Aptos"/>
                <a:ea typeface="Aptos"/>
                <a:cs typeface="Aptos"/>
              </a:rPr>
              <a:t>ONE CROP LOT. ONE TRACEABLE SALE.</a:t>
            </a:r>
          </a:p>
        </p:txBody>
      </p:sp>
      <p:sp>
        <p:nvSpPr>
          <p:cNvPr id="23" name="final-statement-subtitle">
            <a:extLst xmlns:a="http://schemas.openxmlformats.org/drawingml/2006/main">
              <a:ext uri="{FF2B5EF4-FFF2-40B4-BE49-F238E27FC236}">
                <a16:creationId xmlns:a16="http://schemas.microsoft.com/office/drawing/2014/main" id="{F77D2EA2-F42E-4828-A014-DBA638A8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4444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the farmer’s decision to confirmed payment</a:t>
            </a:r>
          </a:p>
        </p:txBody>
      </p:sp>
      <p:sp>
        <p:nvSpPr>
          <p:cNvPr id="24" name="caption">
            <a:extLst xmlns:a="http://schemas.openxmlformats.org/drawingml/2006/main">
              <a:ext uri="{FF2B5EF4-FFF2-40B4-BE49-F238E27FC236}">
                <a16:creationId xmlns:a16="http://schemas.microsoft.com/office/drawing/2014/main" id="{6C25260A-D29C-4870-BB2E-B40031DA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673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C716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C7165"/>
                </a:solidFill>
                <a:latin typeface="Aptos"/>
                <a:ea typeface="Aptos"/>
                <a:cs typeface="Aptos"/>
              </a:rPr>
              <a:t>A clear decision before dispatch. Visibility until payment.</a:t>
            </a:r>
          </a:p>
        </p:txBody>
      </p:sp>
    </p:spTree>
    <p:extLst>
      <p:ext uri="{BB962C8B-B14F-4D97-AF65-F5344CB8AC3E}">
        <p14:creationId xmlns:p14="http://schemas.microsoft.com/office/powerpoint/2010/main" val="2031753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2026-09-23T11:32:21.4520000Z</dcterms:created>
  <dcterms:modified xsi:type="dcterms:W3CDTF">2026-09-23T11:32:21.4520000Z</dcterms:modified>
</coreProperties>
</file>